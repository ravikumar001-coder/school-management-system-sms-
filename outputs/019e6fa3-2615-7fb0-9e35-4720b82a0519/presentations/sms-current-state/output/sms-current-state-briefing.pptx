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aeb85472de415a" /><Relationship Type="http://schemas.openxmlformats.org/officeDocument/2006/relationships/extended-properties" Target="/docProps/app.xml" Id="R3a1470a6569940d5" /><Relationship Type="http://schemas.openxmlformats.org/officeDocument/2006/relationships/officeDocument" Target="/ppt/presentation.xml" Id="Rc261d8dc2d7547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3539d1a7a4ee5"/>
  </p:sldMasterIdLst>
  <p:notesMasterIdLst>
    <p:notesMasterId xmlns:r="http://schemas.openxmlformats.org/officeDocument/2006/relationships" r:id="R085a318261f34770"/>
  </p:notesMasterIdLst>
  <p:sldIdLst>
    <p:sldId xmlns:r="http://schemas.openxmlformats.org/officeDocument/2006/relationships" id="256" r:id="Rff743b2d6cfd4360"/>
    <p:sldId xmlns:r="http://schemas.openxmlformats.org/officeDocument/2006/relationships" id="257" r:id="R647daf13a65447c4"/>
    <p:sldId xmlns:r="http://schemas.openxmlformats.org/officeDocument/2006/relationships" id="258" r:id="Rafd3597537ab485b"/>
    <p:sldId xmlns:r="http://schemas.openxmlformats.org/officeDocument/2006/relationships" id="259" r:id="R86bdd12e76354834"/>
    <p:sldId xmlns:r="http://schemas.openxmlformats.org/officeDocument/2006/relationships" id="260" r:id="R326a4fa4c4814099"/>
    <p:sldId xmlns:r="http://schemas.openxmlformats.org/officeDocument/2006/relationships" id="261" r:id="R39f3571659a14b31"/>
    <p:sldId xmlns:r="http://schemas.openxmlformats.org/officeDocument/2006/relationships" id="262" r:id="R27a89dfc1d55421b"/>
    <p:sldId xmlns:r="http://schemas.openxmlformats.org/officeDocument/2006/relationships" id="263" r:id="R7c558f4a6c694f83"/>
    <p:sldId xmlns:r="http://schemas.openxmlformats.org/officeDocument/2006/relationships" id="264" r:id="R89a66de0d52548bd"/>
    <p:sldId xmlns:r="http://schemas.openxmlformats.org/officeDocument/2006/relationships" id="265" r:id="Rf934a2acd92a4b29"/>
    <p:sldId xmlns:r="http://schemas.openxmlformats.org/officeDocument/2006/relationships" id="266" r:id="R93fa8835a4d945c3"/>
    <p:sldId xmlns:r="http://schemas.openxmlformats.org/officeDocument/2006/relationships" id="267" r:id="R145e6da1b05440d8"/>
    <p:sldId xmlns:r="http://schemas.openxmlformats.org/officeDocument/2006/relationships" id="268" r:id="Ra86ef7a848364a43"/>
    <p:sldId xmlns:r="http://schemas.openxmlformats.org/officeDocument/2006/relationships" id="269" r:id="Rd3044692238c4188"/>
    <p:sldId xmlns:r="http://schemas.openxmlformats.org/officeDocument/2006/relationships" id="270" r:id="R3d41646cc08749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3539d1a7a4ee5" /><Relationship Type="http://schemas.openxmlformats.org/officeDocument/2006/relationships/theme" Target="/ppt/theme/theme1.xml" Id="R1995c29828b94a47" /><Relationship Type="http://schemas.openxmlformats.org/officeDocument/2006/relationships/notesMaster" Target="/ppt/notesMasters/notesMaster1.xml" Id="R085a318261f34770" /><Relationship Type="http://schemas.openxmlformats.org/officeDocument/2006/relationships/presProps" Target="/ppt/presProps.xml" Id="R1e61e4e7d29143e9" /><Relationship Type="http://schemas.openxmlformats.org/officeDocument/2006/relationships/viewProps" Target="/ppt/viewProps.xml" Id="Ra89e692d82074de8" /><Relationship Type="http://schemas.openxmlformats.org/officeDocument/2006/relationships/tableStyles" Target="/ppt/tableStyles.xml" Id="R8ec8b4a258d9434a" /><Relationship Type="http://schemas.openxmlformats.org/officeDocument/2006/relationships/slide" Target="/ppt/slides/slide1.xml" Id="Rff743b2d6cfd4360" /><Relationship Type="http://schemas.openxmlformats.org/officeDocument/2006/relationships/slide" Target="/ppt/slides/slide2.xml" Id="R647daf13a65447c4" /><Relationship Type="http://schemas.openxmlformats.org/officeDocument/2006/relationships/slide" Target="/ppt/slides/slide3.xml" Id="Rafd3597537ab485b" /><Relationship Type="http://schemas.openxmlformats.org/officeDocument/2006/relationships/slide" Target="/ppt/slides/slide4.xml" Id="R86bdd12e76354834" /><Relationship Type="http://schemas.openxmlformats.org/officeDocument/2006/relationships/slide" Target="/ppt/slides/slide5.xml" Id="R326a4fa4c4814099" /><Relationship Type="http://schemas.openxmlformats.org/officeDocument/2006/relationships/slide" Target="/ppt/slides/slide6.xml" Id="R39f3571659a14b31" /><Relationship Type="http://schemas.openxmlformats.org/officeDocument/2006/relationships/slide" Target="/ppt/slides/slide7.xml" Id="R27a89dfc1d55421b" /><Relationship Type="http://schemas.openxmlformats.org/officeDocument/2006/relationships/slide" Target="/ppt/slides/slide8.xml" Id="R7c558f4a6c694f83" /><Relationship Type="http://schemas.openxmlformats.org/officeDocument/2006/relationships/slide" Target="/ppt/slides/slide9.xml" Id="R89a66de0d52548bd" /><Relationship Type="http://schemas.openxmlformats.org/officeDocument/2006/relationships/slide" Target="/ppt/slides/slide10.xml" Id="Rf934a2acd92a4b29" /><Relationship Type="http://schemas.openxmlformats.org/officeDocument/2006/relationships/slide" Target="/ppt/slides/slide11.xml" Id="R93fa8835a4d945c3" /><Relationship Type="http://schemas.openxmlformats.org/officeDocument/2006/relationships/slide" Target="/ppt/slides/slide12.xml" Id="R145e6da1b05440d8" /><Relationship Type="http://schemas.openxmlformats.org/officeDocument/2006/relationships/slide" Target="/ppt/slides/slide13.xml" Id="Ra86ef7a848364a43" /><Relationship Type="http://schemas.openxmlformats.org/officeDocument/2006/relationships/slide" Target="/ppt/slides/slide14.xml" Id="Rd3044692238c4188" /><Relationship Type="http://schemas.openxmlformats.org/officeDocument/2006/relationships/slide" Target="/ppt/slides/slide15.xml" Id="R3d41646cc087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af484d28a714b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2227eb2ed948b3" /><Relationship Type="http://schemas.openxmlformats.org/officeDocument/2006/relationships/notesMaster" Target="/ppt/notesMasters/notesMaster1.xml" Id="R56f86d2214b340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d38c73689a4cd6" /><Relationship Type="http://schemas.openxmlformats.org/officeDocument/2006/relationships/notesMaster" Target="/ppt/notesMasters/notesMaster1.xml" Id="Rac16eae3bfb44c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e955af87c4c42" /><Relationship Type="http://schemas.openxmlformats.org/officeDocument/2006/relationships/notesMaster" Target="/ppt/notesMasters/notesMaster1.xml" Id="R696d3db868664f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15f2e862464a0e" /><Relationship Type="http://schemas.openxmlformats.org/officeDocument/2006/relationships/notesMaster" Target="/ppt/notesMasters/notesMaster1.xml" Id="R14af5ea63e7a4a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691789801743a0" /><Relationship Type="http://schemas.openxmlformats.org/officeDocument/2006/relationships/notesMaster" Target="/ppt/notesMasters/notesMaster1.xml" Id="R4384f357e7b8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3a24613274326" /><Relationship Type="http://schemas.openxmlformats.org/officeDocument/2006/relationships/notesMaster" Target="/ppt/notesMasters/notesMaster1.xml" Id="Ra6eac8cae24b48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bec01267154b29" /><Relationship Type="http://schemas.openxmlformats.org/officeDocument/2006/relationships/notesMaster" Target="/ppt/notesMasters/notesMaster1.xml" Id="R10dba75491c242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6596b843ce456a" /><Relationship Type="http://schemas.openxmlformats.org/officeDocument/2006/relationships/notesMaster" Target="/ppt/notesMasters/notesMaster1.xml" Id="Rc3096a3441404c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b3157c7e6d4c54" /><Relationship Type="http://schemas.openxmlformats.org/officeDocument/2006/relationships/notesMaster" Target="/ppt/notesMasters/notesMaster1.xml" Id="R435ec773bbfa4c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6abfd30d104340" /><Relationship Type="http://schemas.openxmlformats.org/officeDocument/2006/relationships/notesMaster" Target="/ppt/notesMasters/notesMaster1.xml" Id="Rffdfc035e79d48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0491151b9041dd" /><Relationship Type="http://schemas.openxmlformats.org/officeDocument/2006/relationships/notesMaster" Target="/ppt/notesMasters/notesMaster1.xml" Id="R012b6d3bf31c44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38113b1cdb4896" /><Relationship Type="http://schemas.openxmlformats.org/officeDocument/2006/relationships/notesMaster" Target="/ppt/notesMasters/notesMaster1.xml" Id="Ree0546498b7848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0c1c404d4a4e26" /><Relationship Type="http://schemas.openxmlformats.org/officeDocument/2006/relationships/notesMaster" Target="/ppt/notesMasters/notesMaster1.xml" Id="R61714fa3af0240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6a124609e44caa" /><Relationship Type="http://schemas.openxmlformats.org/officeDocument/2006/relationships/notesMaster" Target="/ppt/notesMasters/notesMaster1.xml" Id="Rc4e734165d9845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547a99778d45f1" /><Relationship Type="http://schemas.openxmlformats.org/officeDocument/2006/relationships/notesMaster" Target="/ppt/notesMasters/notesMaster1.xml" Id="Rd126fe5a473544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a7e63d41424d8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ea1487577543e2" /><Relationship Type="http://schemas.openxmlformats.org/officeDocument/2006/relationships/slideLayout" Target="/ppt/slideLayouts/slideLayout2.xml" Id="R0b772e68c28e40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772e68c28e40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705bbd01e24bdd" /><Relationship Type="http://schemas.openxmlformats.org/officeDocument/2006/relationships/notesSlide" Target="/ppt/notesSlides/notesSlide1.xml" Id="R6078a067b187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b8b402b2ce4dc8" /><Relationship Type="http://schemas.openxmlformats.org/officeDocument/2006/relationships/notesSlide" Target="/ppt/notesSlides/notesSlide2.xml" Id="R2e51d05dbb70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efe7b12ad34850" /><Relationship Type="http://schemas.openxmlformats.org/officeDocument/2006/relationships/notesSlide" Target="/ppt/notesSlides/notesSlide3.xml" Id="Rcb3eb552907d4f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d76f8e90f04597" /><Relationship Type="http://schemas.openxmlformats.org/officeDocument/2006/relationships/notesSlide" Target="/ppt/notesSlides/notesSlide4.xml" Id="R2f4d5c52fcfe4b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bc7bcad3747d7" /><Relationship Type="http://schemas.openxmlformats.org/officeDocument/2006/relationships/notesSlide" Target="/ppt/notesSlides/notesSlide5.xml" Id="R59746a863d8343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7466e0ad714943" /><Relationship Type="http://schemas.openxmlformats.org/officeDocument/2006/relationships/notesSlide" Target="/ppt/notesSlides/notesSlide6.xml" Id="R4d64ad1c41e340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a3e7ef8cad47c5" /><Relationship Type="http://schemas.openxmlformats.org/officeDocument/2006/relationships/notesSlide" Target="/ppt/notesSlides/notesSlide7.xml" Id="Rd2cec7285d6f46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2c8d8d472d47f5" /><Relationship Type="http://schemas.openxmlformats.org/officeDocument/2006/relationships/notesSlide" Target="/ppt/notesSlides/notesSlide8.xml" Id="Rd5da9d1dc55b4a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0ec50e05464acd" /><Relationship Type="http://schemas.openxmlformats.org/officeDocument/2006/relationships/notesSlide" Target="/ppt/notesSlides/notesSlide9.xml" Id="Rbda359a93e5441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eb835170543d2" /><Relationship Type="http://schemas.openxmlformats.org/officeDocument/2006/relationships/notesSlide" Target="/ppt/notesSlides/notesSlide10.xml" Id="R1c41430fa41b42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e598f66d9433e" /><Relationship Type="http://schemas.openxmlformats.org/officeDocument/2006/relationships/notesSlide" Target="/ppt/notesSlides/notesSlide11.xml" Id="R9518106f596f48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6ebecd9c54e3f" /><Relationship Type="http://schemas.openxmlformats.org/officeDocument/2006/relationships/image" Target="/ppt/media/image.png" Id="Rc7e04ba8137a4e5f" /><Relationship Type="http://schemas.openxmlformats.org/officeDocument/2006/relationships/notesSlide" Target="/ppt/notesSlides/notesSlide12.xml" Id="R6a2bd6065d4b4a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de278da3a3426a" /><Relationship Type="http://schemas.openxmlformats.org/officeDocument/2006/relationships/notesSlide" Target="/ppt/notesSlides/notesSlide13.xml" Id="R9f2653bf8e424c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a6cb62658474f" /><Relationship Type="http://schemas.openxmlformats.org/officeDocument/2006/relationships/notesSlide" Target="/ppt/notesSlides/notesSlide14.xml" Id="R0e99bc9d2cb540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4f0dcf0b647f7" /><Relationship Type="http://schemas.openxmlformats.org/officeDocument/2006/relationships/notesSlide" Target="/ppt/notesSlides/notesSlide15.xml" Id="R548c2ed630b342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A3BE4D-4196-41A5-B493-8DCAE494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CBBE3-A889-48BE-AD25-D333B252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830"/>
          </a:solidFill>
          <a:ln xmlns:a="http://schemas.openxmlformats.org/drawingml/2006/main" w="9525">
            <a:solidFill>
              <a:srgbClr val="0D18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D9812-9D4B-40E1-AE77-500D13AE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9D20B-D0FF-45C3-A72A-296E03CF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SCHOOL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8232C-1C1E-42E5-85D8-954D480B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49053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Current-state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E835F-72AB-4CEE-8F73-91BEF769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Repository + knowledge graph analysis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Built from graph.html, GRAPH_REPORT.md, and live repo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1038-3FB6-40A9-B94F-96C1B4A8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9152A-6DA2-4074-ABA1-A9A87AE1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28 May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831EB-ECC8-444F-9EA1-5BB266B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71900"/>
            <a:ext cx="140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5B3BB0-2B84-45F2-8502-3B142D7D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052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FILES IN CORPUS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50017-4C83-458B-B676-84506EAB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338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533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71092-7A86-465A-9D6D-94B0B6A2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910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current repo 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BC878-800D-4ACA-B553-2CC9F51D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140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3F8B4-B748-428A-9B95-9AE8F5C8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GRAPH NODES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B185B-FEC1-4821-ABD4-DF3497E9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338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2,198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D9AF3-5113-4B12-8F3E-FE98D6D6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910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current repo 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99ADD-33C3-4482-9799-BBF04BB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140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2151D-3D82-4EC0-A471-71F9D783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BACKEND CONTROLLERS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9FA77-74C5-47EE-99DA-474DFFA0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61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9143F-7DBE-4378-AD13-2BA45B5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910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current repo snapshot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E7748-E01E-44FF-B82F-25AFF116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71900"/>
            <a:ext cx="14097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213B8-A589-47D4-9811-AD6A9222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E81B7-3E21-40AB-89EC-5EC46FFB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338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PASS*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25EC7-0C08-4F5F-9E24-6034FF5A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91050"/>
            <a:ext cx="106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*compiled with warnings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CC97F-8741-492A-9794-7E0F8051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066800"/>
            <a:ext cx="523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324D4B-FDF5-4492-802F-27660E0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14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Executive 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96CCE-7F63-4542-A206-E68C137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764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SMS platform now looks like a broad K-12 ERP: admin, academics, finance, parent, teacher, hostel, transport, and HRMS surfaces are present. The next milestone is not more breadth; it is proof, integration, and operational polish.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F61722-FCFF-4921-8B57-5F0BB396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Deliverable: editable PPTX current-state deck · SMS repository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8FF0A-319B-422A-80FE-902FAF06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62866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803ED-6431-4248-8A74-D74E89C7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A305B-87C6-47B0-9445-9A78146C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853CE-F488-46C1-A6F2-0054882B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5E200-01BD-4239-BE4F-EDC4C436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STATE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F653B-679A-4F2F-AE99-96D4EEE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Breadth is ahead of industrialization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03878-FB48-4C7B-BEB2-B37B406A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codebase has moved from a classroom CRUD app into a platform-shaped ERP; production readiness now depends on reducing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EE429-8199-4025-97BB-AF4D65C5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457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DFD8-6B5B-4331-96DF-EE6A6427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DBFBB-FFE0-45EA-AEBE-F6FE485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Product surface is broad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7F5CB-C170-4DEC-90EF-1884F806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Admin, teacher, parent, finance, hostel, transport, HRMS, audit, backup, and reporting modules are all visible in code.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B407C-F752-48C2-8BA7-50CD9940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00300"/>
            <a:ext cx="2457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7A6DD-2CDB-4DB4-BB09-5A585847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336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DF84B-E00D-44A8-95C8-13451741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Architecture is coherent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A4B1A-9A70-44C2-83B7-53F92D16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195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Spring Boot controllers/services/repositories and a React role-based SPA form a conventional, maintainable layered monolith.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EE697-4D82-4678-8919-E0CB3F3C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457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AFA2D-CAA2-4E66-AD99-8564B1FB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044A0-D079-4D60-BC8C-00E919B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Graph shows shared pressure points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41FA9-1869-44F2-8623-E464F53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95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useAuth(), useToast(), toList(), User, Student, TeacherOSService, and AuthService sit near the center of the dependency map.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58279-8AAA-486E-BE52-D9FEA01D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00300"/>
            <a:ext cx="24574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583773-1899-4BF4-8817-9460BCF5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336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3FF67-7249-4FAB-B367-F52F3812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765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Quality gates need tightening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61644-E741-4777-828D-6DAB5C12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619500"/>
            <a:ext cx="2019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Frontend builds, but warning debt is high; backend test execution is blocked by wrapper/tooling and automated test coverage is thin.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8EDAB8-1AA0-4199-867A-CD1486C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D81A5-E8B9-41C2-916B-580E1902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Decision 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93E30-D384-4376-9283-FACCD681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Treat the next cycle as a stabilization sprint: make the platform demonstrably buildable, testable, documented, and demo-ready.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9E627-1966-49F5-9627-B50EB499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27E49-6A86-4AFF-898E-CA614AC1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14900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B4C61-1AA4-4045-9332-D1E5BCD2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3CDA3-8F58-41DE-ABC2-1553692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79A2B-2749-4567-8B95-4F5924B5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EABDC-2F87-42AF-8EDD-FB7E2724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EVIDENCE 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EAA31-4C40-4130-A9F3-3F608838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graph is large enough to be useful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F8174-89A8-415D-8C80-754BFDD6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Graphify scanned a broad repository corpus and surfaced both verified structure and inferred relationships.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F16ED-A19F-48F9-958D-13443F33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83C24-4EDF-4A15-9933-14C426F0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D9E90-2DB1-4995-862E-EEB797B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533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57C69-C0B1-453E-B222-6245E5C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files · ~819,745 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DABEE-29B1-4BD0-B291-C09C3FE5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145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43E93-6BB6-4961-A8D5-C59C90F8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F0347-7B00-4468-B242-A15BD4C7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2,198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9B553-F635-4C38-B951-FB09B124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90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nodes across 158 communities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6C244-B9E7-4805-96F2-F4582300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66D90-173F-4EF9-A164-A4228225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EDGES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7709C-59E6-492E-9246-65107FA3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2,880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5AA78-17A8-4641-A0D5-582A5216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67% extracted · 33% inferred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737B7-6EC7-48F5-A711-4FEFC52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809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E7E03-9A35-474D-9A05-E2C0BCD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INFERRED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BD175-80B2-4406-9DC1-76915AF1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60A5FA"/>
                </a:solidFill>
                <a:latin typeface="Aptos Display"/>
                <a:ea typeface="Aptos Display"/>
                <a:cs typeface="Aptos Display"/>
              </a:rPr>
              <a:t>964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10A77-0120-4E40-B46D-3EC1D14C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avg confidence: 0.8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C3763-1257-4FD6-BE28-251E1778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0BF7A-E1EA-4EF1-8FDA-66CFFD44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Language footprint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8C5FE-827D-4045-B461-5E9F44E8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Java backend files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EAAE72-E471-4F78-AAC2-1A4A3DB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F7CF4-C07F-4475-A555-3DD3F2D6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CF679-BF7F-4321-B515-DA6D8BC5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95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0DAEC-3742-4A47-9A64-AFFEAC0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React JSX files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99D97C-A358-4CFA-A3AD-C4FE90D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ED360-6A5B-470F-9A74-7B5A087A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57750"/>
            <a:ext cx="1000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71AB2-9BB0-4B58-8CEA-1B691DA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8196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180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C7F9F9-930E-4974-B4F5-1392DA6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Frontend JS files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B8780B-7A11-42E8-BE9A-C883D2E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2381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6825B4-71A2-4F9F-8CE5-C98D83DA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238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874BCF-C29C-4AC2-9D51-BF8F2C21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435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850B1-C8CF-4BD9-AC62-535474ED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E629C9-B615-4BA4-ADE2-8778F138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Source trail used for this deck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535DB2-1C74-468D-82F9-8AF145C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4476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graphify-out/GRAPH_REPORT.md and graph.json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graphify-out/graph.html as interactive map reference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README.md, sms/pom.xml, school-frontend/package.json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docs/design.md, docs/task.md, docs/school_db.png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Local validation: npm build, Maven wrapper attempt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6B72E-F9B3-4428-A442-7C271213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734EEF-CCC7-4549-8626-5FF36DD5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52848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EACBC-C7DD-455B-AAD6-30B62843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310E8-244E-4CBD-8443-DD7F70C5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EB884-F2E7-4017-A1F6-84495A9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CB334-4884-4225-8CE8-8CDB9B2B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PRODUCT FOOTPRINT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6B88D-9774-43ED-8F26-6A3568FE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product now spans the full school operating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B3F57C-583D-46D4-ACA1-DF04AAB2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repo is not a single-purpose admin app anymore; it has role experiences and operational departments.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69863-DB4E-47A4-AC92-A5F3902C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00400"/>
            <a:ext cx="1809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AB7FE-D657-4A5A-B153-92C7DC8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09950"/>
            <a:ext cx="1466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SMS ERP</a:t>
            </a:r>
          </a:p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A496D-5030-4D6F-A07D-08970CBC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07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1726E-2DA5-4BFD-A9E2-B5BEC1FC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145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Academics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FB6F4-AC67-4C26-BD6A-163B298A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03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classes · subjects · timetable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9F5AF-FCA3-4756-AA52-83098F2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52700"/>
            <a:ext cx="3914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E45BF-A4AC-4BBC-8834-7FEF04F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075AB-14CE-4F7D-A0A1-4079AA1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859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Attendance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72684-2517-43A3-8DBF-45204C43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717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templates · sessions ·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D1389-9DD1-4BEE-A7C1-66AEA77E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24100"/>
            <a:ext cx="285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9081E-BCF5-4CA2-9DB1-1D072B4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E645C-055D-4F0C-96D7-5971341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050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71D99-7402-491C-BB6C-9F571164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907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papers · marks · results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A371C-5060-4564-93B3-B8919105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1343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6417C-309C-456E-80FD-1FD2297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B427F-D89C-4570-804E-5DF7D47D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6AE35-726F-44EC-A345-81C118A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fees · ledger · payments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7E3AD-DF42-4CA9-A212-4744E930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3724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F1720-A0BF-4C53-9049-7B00B5F7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82538-B9F0-418A-A001-B92C456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95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Parent 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990B34-6A8F-4985-BB7F-026D18D3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053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children · fees · circulars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ADCF1-8300-4FD6-A946-EFC49611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410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DEB89-241C-4C33-9747-CB68C9C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07B4D-4473-4768-A4E2-B851AFA9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577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Teacher 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7AA35-5F28-4BD5-A3D7-B439D98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4352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content · classes · analytics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38E383-B33D-4BFD-AA33-34AFB76A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48075"/>
            <a:ext cx="28575" cy="1647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21BF52-8735-4D2B-B66E-A1220EF0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911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1F45F-4BB7-4D79-92E7-5BCD08B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149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Hostel / Mess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5B4E8E-DE24-4920-B540-06D6FC7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006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allocation · attendance · billing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EC5DF5-ACEB-46A1-ACD2-BAF49A5F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48075"/>
            <a:ext cx="2857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C11926-19E4-49E5-A509-C8599308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E42BB4-0EDA-4A4E-AF3E-D5ABB28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C6E506-EAFA-44A4-90F5-9F928324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routes · GPS · RFID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88DAA8-DD15-4152-A2E8-8D1A4E4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476750"/>
            <a:ext cx="4010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3BD8EB-1B47-4684-A16D-F8541E3E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17E59A-976B-44F5-8499-B4C16AB4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337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HRMS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A24EAA-95A7-415C-867D-B6E3CAA7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19475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staff · payroll · compliance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C8052E-83A0-4C84-B15E-830FEC15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71850"/>
            <a:ext cx="3971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BDBA37-11A6-46A5-B323-D4971D2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CC248-9CE7-430C-9410-C46A1894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23861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66B33-616D-4DEF-9789-6C5AAE0E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8879C-A405-4353-8A33-32DE3E3C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E0188-1A81-4A45-9FDC-0CA092A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54D09-36B7-444C-BD0F-430C412D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99F91-2224-45F2-8B2A-60EBD43D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Current architecture is a layered ERP monolith with role-based SPA front 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8D943-710A-4DE7-BF27-E1C8857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major seams are visible: route/page surfaces, secured API controllers, service orchestration, repositories, and integration adapters.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96B9F-4E9F-4B0B-9EED-EA07C675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37ADC-F08B-4AD8-AE86-BDABB03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LAYER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23CD9-FDFE-47E5-9C7B-12D24826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React SPA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672B9-CFA6-4CF5-9145-3FAC07C9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943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Admin, teacher, parent, student pages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Auth hook, protected routes, toast context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Axios API clients and dashboard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ED41C-9C39-4A7B-9746-87CBEA2D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575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13136-0F07-40FE-9DB1-466C23E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75988-7CF2-4CB2-82EE-02196F09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A856F-C43F-4B9A-9568-D265FA2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09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LAYER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F342C-C7CA-46F0-B852-0F24236D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09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Spring API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938C9-32B9-47AB-863D-07BB13BC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943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61 controllers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JWT + RBAC security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CORS, validation, exception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9DD84-D62B-4B23-AE26-C239A0E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575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83A62-910B-4C24-88CD-DE3D656F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28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EC872-C07B-4ADF-91C8-A07BEEB6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ACBB6-F90B-48B7-B05E-46B141C8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LAYER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FF7C9-05C4-4C68-AB46-5A54555C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Domain services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E97B4-BA36-465D-909E-0EB9B249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05150"/>
            <a:ext cx="1943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72 services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Academic, finance, hostel, transport, HRMS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Notifications, reporting, exports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C299AE-8CC0-4F9D-8038-7801E141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43A3F-276C-4822-B6B8-25013F82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06B0B-C9AC-4900-A1C3-513F6F50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27633-EB90-4D61-B813-4A9BDFA4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222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LAYER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521EB5-8AC9-4857-8FBD-3A3FCDC2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098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Persistence + 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FF4BC0-576E-47D0-A2E8-BC60C0C6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228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106 repositories · 121 models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MySQL/JPA/Flyway · Redis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Razorpay, mail, PDFs, Excel, Tally, WebSocket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1F7D2-CD38-420C-AC3A-D2561D9B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BC7E5-9E95-4F99-A9CB-F54EDEB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38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875FC-1D12-4032-BFED-19B2F11C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This is a good architecture for fast institutional ERP development, but it needs stronger API contracts, integration tests, and module ownership boundaries as breadth grows.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427382-22CE-4019-80AD-D4B23A4C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0086E-0B21-4B08-9A69-74F3DBF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321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873E4-55B9-4707-AE10-8C3B4AC7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95B1A-4440-47AA-BECE-9E44EB5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FF7AA-693B-4338-934C-B29806E9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A2487-BDC6-4966-931F-32067721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BACKEND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487E6-D69D-4B18-83E9-E51701A8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Backend breadth is substantial and organized by platform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60441-CD4E-4DB1-9597-22A49324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Spring Boot service surface has moved beyond CRUD into finance, hostel, transport, HRMS, notification, reporting, and audit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82EE7-5C42-4933-8546-14608E08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8958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6EE2-DE82-4696-A2F5-9811756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SPRING BOOT PACKAGE 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6B81F-B11D-4185-875A-5497F60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80BF5-FF24-4416-9F0F-20222EBD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3E936-D55E-49C0-B4D0-FD73A9A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718A2-69BE-493E-86AB-94B50896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121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D82F5-FC9F-4607-ABFB-F29D8DBA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18084-370F-4B0A-A45A-DB1D7380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EEAAA-6992-454D-B10D-621FA428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05150"/>
            <a:ext cx="19278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49D47-39C7-46BF-A422-8CCBDF83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179DB-F0AA-4C5F-B3AA-366AA18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40B28-099A-493F-99FC-D814A69B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F8BD8-4A01-4499-B377-BEFC291B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43300"/>
            <a:ext cx="1314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37C3-9D4A-497B-A952-AD335230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052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37201-7BBE-4617-85DC-A252A4AD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BB74F-36DB-41CC-A9C3-CFF2670B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1F08A-048F-49B5-AD61-9A1C2539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1095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B3B00-871E-435C-9353-32AAFABA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433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25D6A-8178-4878-BD67-21A0CC4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B21BA-57A9-4C45-989C-36F9744B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96261-A05E-4AFD-BECC-68435708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7886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FCF29-42F0-4ED2-B79D-01CCE8F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815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62196-8301-4F62-8937-A674E2C2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Security/config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957826-DF8C-4517-97BA-29A54B7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9701B-32ED-4CEE-AC7E-6CB08609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39433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F27E1-E42D-4FA1-8EE6-E67DBD1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196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C3651-03EC-4443-8955-6C3CB655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48196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FA6C43-B686-42D5-AE8C-2DB8376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BOUNDARY SIGNALS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1D6E25-4761-422D-AB50-0B719626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98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C2637A-1FB0-4EE6-93CE-B598D171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Core school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5FDC89-ED49-4790-B8D6-7351BB56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student · teacher · class · subject · attendance · exams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ACADE9-AEC1-4123-AFBE-F97F603D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2B8E5C-4187-4B98-9A4D-6DBB03E5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0799D4-5A04-4BFF-9F4C-C400366F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575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fees · ledgers · payment · reports · Tally export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C2F78E-BEC7-4B6F-B427-DC2EDC34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FD7CD-4BE9-4C6D-965D-C4A2937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Hostel / Mess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A86FEB-AABE-4513-BDBE-743F9046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allocation · attendance · billing · absence events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571636-CA19-4FCE-8921-BB2B3B94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386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DB6EE9-2E8C-4D07-9FB0-437CFA3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F3A1EA-031D-47FD-8CF7-236E7DCC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routes · vehicles · GPS · RFID · billing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F9097E-F015-4DFA-9C55-C557C86A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B6498F-9C6B-43E0-9D78-04FED8D7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HRMS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473603-BEEB-4F5D-B5D3-BE586319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staff · attendance · leave · payroll · compliance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12D94E-9EC2-41C3-B537-B5403FB8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91100"/>
            <a:ext cx="11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65EF81-06F6-4A97-8E58-3E6183A3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9630EB-F27C-4C83-9DD7-FAE9D097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auth · RBAC · sessions · audit · backup · files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9E9E14-B7F6-4DAE-A3B0-4B4EFFB5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B430CD-F8E5-4E91-8645-E329B036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38576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C9AE9D-152C-4F02-B82F-67B33D25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DAB3D-EA5A-4E11-8940-E4D0ED6D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78664-D3A6-4AF0-84D3-A16A8696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6746A-4491-4EBE-9830-F28DD3F2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FRONTEND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280B7-C920-41C3-A0FA-5423FDD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Frontend builds, but warning debt reveals polish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2E060-16B0-403F-9E12-0C9550F0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React already spans role experiences and operational modules; the next cleanup is mostly hygiene, hooks, and dependency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858F0-DA69-4402-8863-6C098E98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6B8C1-16E7-43E0-A6E4-30794198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1AB8B-B51C-48F2-9958-278453D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116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1E919-534D-43DC-AB50-EA172C1A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role and admin screens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61C97-A177-4188-840D-F7C04A1B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CB52-A925-4E8D-A654-A693AB6A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28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CE6C0-792F-48BD-91E9-49CBFB34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FCEB4-375C-4FEE-92C0-F6CFAD6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layout/dashboard/common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76ADB-9C9B-493D-90C1-E9386BCA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18F3F-F335-4A3B-9D57-AD8BA050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API CLIENTS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38BA6-37D2-4DA6-B699-009A7E5C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6CFBB-CAB5-4AA4-8F22-C14BBB4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57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frontend src/api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459E9-0544-4C12-A8D8-3150DC81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1695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24AB5-CFC8-4600-8C18-A623A025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HOOKS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AD02B-6D84-4B6F-96D4-03DC8666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6C5D3-FE6B-4CD3-8A24-1772AC47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auth, persisted forms, more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FF149-F94F-4CEC-A011-62A3721B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49530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15BBE-9C5A-4242-8438-2B157BC4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VALIDATION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668D1-D2E4-4D96-837B-071DED7B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npm run build: succeeded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642A74-6273-4BAD-B54A-9653BA0B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Compiled with warnings, not fatal errors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Warnings concentrate in unused imports/state and hook dependency arrays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Build artifacts generated under school-frontend/build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C1755-E687-46DF-9264-7BA0043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90950"/>
            <a:ext cx="48196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7C73F-2C65-4845-B625-C544DD65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243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DRIFT TO RESOLVE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B2898-818D-41BC-9D46-A096984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README says React 19 / Router 7; package.json uses React 18.3.1 / Router 6.22.3.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645B86-6A56-43ED-A5F6-1D361D41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That is not a crisis; it is a signal to make docs, dependencies, and release notes converge before wider handoff.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066526-28D1-4965-8102-135C05F8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5D3F66-D200-4E6E-BED9-015305E8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77786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F6250-D6F3-4C12-B7D3-BF004102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6A224-6795-42A3-BD49-2E4EC1A6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0F4E4-AE1E-43D9-B0D8-46053CFA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748A3-8AF5-43A3-BF2A-3AB7D005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KNOWLEDGE GRAPH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8E031-BDC7-4A67-8105-8DD69118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Auth, toast, and list utilities are the shared pressure 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180CA-5472-4B30-8672-E42F0A0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most connected nodes are mostly frontend utilities plus core identity/domain abstractions.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88036-8AF3-479F-BF9E-24C9EF53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45339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FF93C-C39F-4C7C-9934-1F914230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TOP CONNECTED NODES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018AF-82C9-4F37-A26E-76F7C3AE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useToast()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55CA5-C055-46A3-AC69-B531D56A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24901-3DA4-4309-9087-4676C8BA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A5D6B-3D37-42D4-AA9D-989340D3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940EC-90F8-44D3-A182-6CE942DE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toList()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6E630-D756-47B0-BAB1-2E4E1CFC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6730F-C4BB-4ABC-B7B3-7514F5FA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5999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7A0EF-8A93-4917-969A-04592E29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FE340-0DCA-4CCA-A5C3-CB1EE08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useAuth()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6966B-1AF5-42C2-BC3B-DC67D61D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662EB-6196-431E-BFDD-EADFED4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118027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236B0-B137-425F-ABDB-A16BDC70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BA4C5-627C-46A8-B905-938BE62F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63C4B-0EC4-4255-9834-CDE10F7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385B1-BE6A-4578-98CD-BC3E3113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62947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9C250-3CF0-4FEC-8657-49204C1B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9203E-1411-41DC-B93D-3DCF2DCD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AcademicYear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0DE9F-AC4D-479A-A94C-FBF6A2EE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188D4D-504E-4CE2-A7B9-F2C77F67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49833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9AEA3-A9FD-48BE-9E64-7019C6A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719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C3283-BC53-411B-8D28-CFE85D4C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DBAC9-E39B-45C9-812E-7A40CDF8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148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A13873-6551-4B13-A5C5-EBDF78E9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14800"/>
            <a:ext cx="49833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FE3363-1B67-47D8-ADA1-3176B4BC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F4DE19-64BB-4F2E-9314-CB6AA6BF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TeacherRepository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7517EC-22F3-499E-AE7F-96475DC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8A2939-49E7-48DE-BE7A-FBE8D78E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47210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0D7527-6420-4965-AC92-A1EE4BA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9914BA-D22A-493C-9A0B-08F8CE6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TeacherOSService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AE6687-7E6E-41FA-8211-1BF6FED3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84CDBF-45F7-43F8-B169-21370F46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47210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50AA3-CCAE-42FF-8B8E-59F43E85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41E076-16C4-4A16-B364-55FD726D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ParentSuperAppController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BACC1A-13FC-479C-9D52-BCB5F1F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97EA7B-7B1F-4871-BBCC-4DA5ED4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4458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7689C2-08E0-4F86-AD44-DA41DDCF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27AEBF-C9B1-4F46-9841-5374AF5B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AuthService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23601F-A3FA-416B-9CAC-D26FA87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57"/>
          </a:solidFill>
          <a:ln xmlns:a="http://schemas.openxmlformats.org/drawingml/2006/main" w="9525">
            <a:solidFill>
              <a:srgbClr val="21355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15D2A5-35A9-4AB7-BC16-92FF3FE1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44588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80676A-E01D-4D3A-8457-6FF98B6D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959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BA919C-71B9-4CD6-B456-6A781378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19300"/>
            <a:ext cx="5162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DA2160-C7CD-4EC8-882F-69EAEDC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481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A99B0E-DCA6-4F0E-967F-8C31F83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72AF70-73D7-4E1A-9A84-8CDEF2B0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8B1692-C573-4577-941F-CD5653D7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28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423B7E-AD7C-42E2-A12C-6BC43A9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253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A070DC-FB28-43DA-B4C7-1E1CD1F4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85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5D136A-EDCE-4B45-BAB9-3D7931A8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1623E3-9462-4BE2-A054-40DD03A7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285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6B477C-83C5-4E55-80DE-931AF7C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85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F72B46-1A56-48B5-80CE-8DDDA2EB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1581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4499A2-33CF-4918-9C2E-561404C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051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2DD4B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FF0C7E-BD32-445C-B8F2-60DB3EEC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useToast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08B147-347E-4380-9D14-301A02B3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242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958F14-15D8-4FEB-86B8-0B8C6396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95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useAuth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A311B8-5731-4E5D-B5AA-EB915FE9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052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3E9D33-A156-41E0-814C-0F1E219D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toList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66EA96-E2ED-4CF9-BBF9-7B2B36D7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A78BF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7E43C2-9573-4B78-9E8B-E27D55D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13C244-1C52-4EB8-9B3D-2C4F09F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955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20789D-8EB9-48F6-B909-659C4E8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7650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85F428-4BF7-4440-8995-FFF5EC6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7AF396-678B-4F3F-A043-D4682891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623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AuthService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B349EB1-55CA-43DA-A37C-A6205198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387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8FBBF7-E59B-4960-901A-93FE8CCB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TeacherOS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AEFFB7-AAD8-43E9-BFF1-9C066B10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3154E5-AD13-4EAF-9361-7B32529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0482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Parent app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0AE1C33-A594-4736-B8C2-AF8FF4B4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626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Risk read: central hooks are powerful leverage points. Refactor carefully; tests around auth, toast wiring, and shared list normalization will protect many pages at once.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302FAA-1369-4C1D-B67E-94BF737B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3BF39B-081B-41FD-A3A3-F365DDD8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103166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94B59-372D-4EDE-9873-19396DC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E19EC-3CD3-4F1A-AD9F-B75A1E1C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999BA-AF7C-476C-897B-7CAB1D6D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7903-9AD0-4B5B-A838-6812342E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MODULE MATURITY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D613B-29DE-40E1-9232-10EEA866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Current state is strongest where layers line up end-to-end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878CC-F489-4841-ACA0-914E9B8F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Maturity here is inferred from visible code surface, graph connectedness, and validation signals—not a business acceptance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FCA0B-8292-46AF-82F6-21DC44BC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1019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704FE-D5A4-4CF3-9E38-FAE62B5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9848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FUNCTIONAL READINESS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848D7-7553-4C0D-8E06-F2130B9E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E1DDE-55D5-4940-B47B-B5F6F915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43F9F-4D6D-4761-B65A-F8B1BD9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602F3-9AF7-469B-921A-97F63F5F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117638-217C-4CD2-9275-C2F2CF89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Auth / RBAC /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F5079-6C02-4418-84CC-ACAD4995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56A67-6D25-4B36-9147-53AD0D9D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908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DAD3F-DF6D-40A6-9EB7-84B9717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622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SecurityConfig, RoleController, AuthService, session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1EFB0-0E04-42AC-8712-8C3C2BC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CDD85-9A3D-4932-82B4-007667AF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Admin + core academics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1FB35-105A-4EC0-96E1-CB9182F1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10D99-47EB-40C1-B174-8BDE5179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337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07235-2F3B-4013-82A1-7AC9125E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students, teachers, classes, subjects, attendance, exams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FCBD1-648A-4B51-A1B0-B09EA126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1E3A4-CD44-47B4-BFC3-F74FF7F3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Finance + payments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3AA4D-1FA3-4E5A-9268-DFDF44E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5C7463-BB64-4284-9D8D-8DFF6D21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766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0698FD-81CD-4834-968D-35870AAE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480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fees, ledgers, Razorpay, reports, Tally export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89B406-88E0-46AE-9637-76478907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671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34722-DFDE-4337-AAFA-4C8879BA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Parent super 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CB8310-61A6-4C5D-9833-B731BAC3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719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69B93-2D17-4D4B-A0D4-DBA0E17B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195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3D7EC-256A-457A-9177-94BFA951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controller, service, DTOs, parent pages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15812D-BE6C-43C7-A3F7-3C3D2C7F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9B453-9CD5-496E-9ADC-0360A2C8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Teacher 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3EC43-F4B8-4728-9055-3209AF5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148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C5549F-7592-457B-B214-38B77927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624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64481-15B0-4E9F-8139-6DD3E63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338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teacher content, timetable, analytics, 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091480-E9D8-4B58-B071-A9A87355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89E096-26FD-4D1B-B043-CC3BB7CC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Hostel / mess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5A0EE-A369-4C3B-B3AE-476DDF32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577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A5020C-51AE-4589-9482-9618B141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053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B52B43-4DA7-4C1E-A51C-FDB4C913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767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allocation, dashboard, attendance, billing, event listeners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0F030A-446E-4B8D-9AC1-B50200C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7308B3-0F74-4612-81F9-5357ADCD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D2AB92-ADFD-43F8-B6D4-6CFFA4D6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006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8478E1-1327-4E2B-939E-9AD0BDD4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482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BUILDING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6D8EE4-B244-4567-B96D-A7F8C19F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96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routes, vehicles, GPS, RFID, assignments, notifications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5884D3-2512-4388-BCAE-D9473D8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8BADB6-0E24-48F8-AB5C-D6DE660E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HRMS / payroll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824262-EE46-469A-A24D-4AEA32A6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435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8955DE-E1FF-40A6-815F-DA57BF0C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91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BUILDING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613A55-0287-429C-BC5B-682BD989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625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staff, attendance, leave, payroll, compliance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009A64-1343-47B5-80B8-79648929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9C505F-BF64-4641-AEA3-E2DD26E2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Automated testing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F532F1-BADB-4EAF-8532-18DE88C3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8640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D7D2C9-1994-4ABD-BE9C-46463C4A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340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THIN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1B1D3C-078E-4184-9097-52EABFCF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5054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one backend context test and default frontend app test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F74BC5-E0CA-4F28-9F0B-D11B854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566AA5-2C27-4C6E-B500-1716D27D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09784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E38CA-BD5A-430F-BDB8-4C840CE2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A4A83-63C5-482E-86F4-D18E237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9A4CB-CB2C-49BD-8569-92E46F5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1B8B1-DF56-426B-AF94-C819561A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SECURITY AND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4AD71-6DB7-4248-AF1C-26F5EF80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platform has real control-plane ingredients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A008A-AC90-4818-9BAB-F2CA1B6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Authentication, RBAC, audit, backups, profile-specific config, file access, and scanning hooks are already present.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B66B8-7EE7-49CF-8E8C-F07BEAB6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89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96275-1F3A-49F9-903E-467973DC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595D9-B89B-49C6-A9B5-F93E59C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JWT auth · refresh/session services · role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680BF-FECD-4968-A174-B0B0177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289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2CE3C-BFD2-4BED-A57E-E8E3B27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AUTHORIZATION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B6492-A932-4986-8D2E-03ABC536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051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SecurityConfig · RoleController · Permission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FD596-EE1C-4C38-BC84-2C941FB1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89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D2B28-4A70-46A6-AD58-03BC5D5D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AUDITABILITY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8B28B-5D32-43FE-9721-C784EEC9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AuditLog, SessionAuditService, activity/session repositories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5019C-4CB3-48F9-80C2-4B95600C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89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2C7C3-4685-4156-B272-B4EB8652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RUNTIME CONFIG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53627-F039-44DD-A9DF-8A3FD3CF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dev/prod profiles · .env placeholders · CORS frontend URL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41ECC-0AD3-4D70-B3BA-25C66585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67150"/>
            <a:ext cx="289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C7EE2-DF16-4BA1-8F7C-990EE59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RESILIENCE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3DF54-1749-4BB9-8FFA-91E67B4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815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backup/restore service · Redis dependency · WebSocket 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8974E-6154-4F23-90E9-EA49AEAF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67150"/>
            <a:ext cx="2895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D87FF-3D26-4E1F-8078-61348CBC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92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923C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C1057-1BFA-456A-B2C8-EE4667B6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400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file controller · uploads · PDF/Excel generation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E94A9E-81B0-4DFA-BA36-E142B9C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42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45ADF5-6E5D-4C6A-8E86-9F84CF7E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Watch item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10B43-5081-4133-B0B7-B3D6B3E5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769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application.properties still includes a default JWT fallback; production should fail closed when secrets are absent.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C30C4-DED2-4252-A30E-8ABE4325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AA1B5-2EF2-4057-BB49-8AF2EB91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360046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92A81-9E48-44BE-A7E7-280CCA0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882D9-60DB-47CB-BD32-B51B9BD3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777B2-0314-47B6-BCFD-5E435AF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11D2D-675B-40F9-A2C0-DB7F762D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VALIDATION SNAPSHOT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E91EA-C05C-43D4-94EA-35838414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Frontend is buildable; backend validation needs tooling repair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D75AC-F7A2-4CAC-8364-F9DA9B62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These checks were run locally during deck creation so the current-state read includes fresh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37EAE-FF8F-4D7A-ADD9-DBD869F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686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257F5-0739-4B74-B18F-029621FA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FRONTEND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B97EA-36FC-4020-A505-0A234DA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PASS WITH WARNINGS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2839A-992E-471F-ADC5-05339DF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17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npm run build completed successfully; warning debt remains around unused imports/state and React hook dependencies.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E5559-0FCB-4400-BB5F-B137834B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4686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837D4-5148-4EA1-B6B4-AFDC8327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B9260-7431-4EB2-B9DA-F3B3EBBB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B7185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5724A-4803-4242-ACB6-CBD4E861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67050"/>
            <a:ext cx="417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cmd.exe /c mvnw.cmd test failed before Maven startup; mvn.cmd is not installed on PATH; wrapper distribution is only-script.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BD3D5-634E-4648-94A8-2B303C52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4686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24A5F-0677-4A25-B12A-FBDB949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AUTOMATED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B5192-A242-43EE-966E-0C5BD1BB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THIN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54443E-075F-4BA9-A19A-726DF5BF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417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Repo currently shows one Spring context test and default React app/setup tests.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1D326-4F6E-41DE-B6E7-ABC18B82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4686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DAC9F-ACDB-46D2-A189-88CD20B1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434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GRAPH EXTRACTION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DFA95-02C1-4114-A172-84AE085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A78BFA"/>
                </a:solidFill>
                <a:latin typeface="Aptos Display"/>
                <a:ea typeface="Aptos Display"/>
                <a:cs typeface="Aptos Display"/>
              </a:rPr>
              <a:t>USEFUL BUT MIXED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5B21E-926E-4648-99E3-9C5D0607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4171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67% extracted edges, 33% inferred edges, 82 isolated nodes, many thin communities.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50913F-2DD9-4807-AB2A-39E2942A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CCF56-B5EC-4CCD-B56D-A9EB514B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1586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6CD3F-6138-4994-AD6C-872BEF9D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46442-C0CD-4E12-8428-E190B7A8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45CDB-835B-47F1-93FC-3AA7E16C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875B3-67FB-487D-A19E-81D1967B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DATA AND INTEGRATION SURFACE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7656C-4E8D-48DC-B19D-5F6D7D17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Data model and adapters are already part of the platform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807E3-60A0-4190-8DBA-A9ED963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codebase includes DB schema work, Flyway dependencies, generated docs/images, plus payment/export/device integrations.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F3E57-E7A1-49B2-BA19-2E1F9CBD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56197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4C9AA-8C5B-4609-A24C-888A4881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27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DATA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5628B-E781-4B34-8C2F-30FFF79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455F1-A1A8-47E3-990D-C6AAF569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Relational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02253-0E74-4414-A5FB-BB86C4CD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Student, Teacher, Class, AcademicYear,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8E5DD-4379-4C6E-B241-09985B4E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E8C51-8A90-46FB-B5C2-7FF1CCCD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Finance ledger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FC835-47FC-423E-852E-A8FEAE8A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57575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FeePayment, LedgerEntry, PaymentTransaction, ReceiptSequence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D39D0-45E1-46B4-A14B-1BE1F04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EDAA2-41BD-49E8-BB35-43B39E0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Operations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F32A2-2639-45FE-8844-23B29B98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05275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Hostel, Mess, Transport, HRMS, attendance,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19417-0723-4476-8F36-EA20EF86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9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C2F5B-73E9-430C-9F67-26EE05F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Migration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634F4-8190-406F-AE06-B4CADA3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52975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Flyway dependencies, seed SQL, schema image artifact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D6856-FC7C-4A1E-8873-73D7B69A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Full ERD preview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04ba8137a4e5f"/>
          <a:stretch xmlns:a="http://schemas.openxmlformats.org/drawingml/2006/main"/>
        </p:blipFill>
        <p:spPr>
          <a:xfrm xmlns:a="http://schemas.openxmlformats.org/drawingml/2006/main">
            <a:off x="4685170" y="2724150"/>
            <a:ext cx="745209" cy="24574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5988B-96D2-4D10-AF62-117AC5B3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149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docs/school_db.png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8B6D0-925F-408C-A162-8DFFD6B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40005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953DD-5474-4689-B32F-0FE7AD82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INTEGRATION CAPABILITIES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43A65-7BE6-41F7-926B-C7A1BA1E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193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68F68-EC1E-4FBA-BF2F-E01C43AE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MySQL + JPA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C56380-012F-492F-B4A0-B5479C36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primary relational persistence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74FBE2-1032-4ACB-81E2-34A4ACD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8132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905BEE-5B0A-4863-AF20-6CC50DF0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Flyway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117AC-5D8D-4872-B4B4-CE58557B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migration dependencies included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1BFCF1-F1FF-40C5-9BE6-C6C99C2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432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21543D-5FD0-477C-B4B7-64B19ADB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14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44179F-9CB1-4DBE-8EC0-0405729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runtime dependency configured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BEC70D-58C0-4694-88B5-74549B87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0522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267B1B-7DFF-4EA9-B597-9D2A7A25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6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WebSocket/STOMP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93B1E3-F9E0-4839-9FB4-443534D1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76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real-time channel capability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8134B5-6459-4C7F-A58C-71B733B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671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06FBE3-52A4-43A8-B9F2-C514051F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Razorpay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BC5EE5-36D3-4D4B-BC2B-66537EA6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payment transaction 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917BD7-A1D4-4B3C-B0F3-7902B22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2912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017E15-4D4B-4099-B505-224E5C14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Tally + reports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3B27ED-AB4A-4211-8D1C-2331EF8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finance export/reporting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CD7483-154F-4729-816D-554607CF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9107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358D61-A730-4AD0-BE46-14A2666A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2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PDF / Excel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F5770B-045D-496E-91A5-285FAA7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OpenPDF, Flying Saucer, Apache POI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F347D9-0548-4A80-8AB0-0595188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53025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76B012-6FA5-467C-8BC6-C707E44F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24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GPS / RFID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9013E2-FCAD-4333-8D5A-ACEB3DAF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24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transport device workflow surface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7ED9F7-3098-4542-93BC-A6B1BDCB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4EDE70-5478-4C00-8C90-F69324A3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25762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5E8E65-7060-4E87-AD18-A74B8860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F6C3B-F7D3-4AC5-BDAD-D6B7CF72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A2221-1DB2-4F9E-BE6F-C9817B35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52A0C-4239-44E9-89DC-95B2710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RISK RADAR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4FCE6-45C5-4277-8730-AA6B566E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The biggest risks are tooling, test debt, and central coupling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6B651-CC1B-4B58-9A2A-09A0097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risk shape is familiar: broad feature growth has outpaced proof automation.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62AFC-774A-4354-82EB-C086B582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DC628-6DA9-4502-86ED-C8BA920F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89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IMPACT × URGENCY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01564-E58A-4A01-BAD4-89607F5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561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43F2A-A02B-4804-8D41-CC8BC804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85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CF682-E3A4-4A7C-83FE-B2FA975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05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Lower urgency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6FD7C-AF4D-41B4-997C-A94C5E7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Higher urgency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624A5-74EC-41D5-BBB8-EB2C7534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Higher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9C2DA0-95B4-44BB-B8B4-C57AD69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FBE64-D74A-4B4E-A0C4-97E6AE0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384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Maven wrapper/test path 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F433C-4D97-40E1-A27F-C0CC0657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CF3EB-11C2-4410-8559-46ABECDF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09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Thin automated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8EB38-4487-4979-8080-686D707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175FF-CEA1-4E6E-A857-6C40B22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81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Frontend warning debt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2EC96-1B44-4709-B205-7F7D8B83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4532A-C579-4123-9988-5B94C1C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28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Central auth/toast coupling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701D1-ABDD-4743-B1F1-669D1FA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923C"/>
          </a:solidFill>
          <a:ln xmlns:a="http://schemas.openxmlformats.org/drawingml/2006/main" w="9525">
            <a:solidFill>
              <a:srgbClr val="FB9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C4F4C-2FA0-4855-973D-283A1F56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57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82 isolated graph nodes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86A8E-01E0-4F1B-A0FA-4D6AFE8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9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B993D-2B52-43F4-B81B-A9237F07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90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README/package drift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927C4-25CB-4B95-BE09-FE2CF79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289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0C74F-5646-4B20-AC8A-7FF16F2B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33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PRIORITY MOVES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E79F9-76A5-40DF-8D95-84E18F38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2000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Repair backend Maven wrapper or standardize Maven install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Add smoke tests around auth, dashboard, and core CRUD flows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Reduce warnings before UI handoff; treat hook deps separately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Add ownership notes for isolated/low-connected modules</a:t>
            </a:r>
          </a:p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Align README with package and pom truth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69FEB-6736-4FD9-B035-309B0F7A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20CAE-6613-4D6C-869D-81A71879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6659224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091D56-DF9B-42D4-8FD2-D72E1BF9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941CE-CBAE-45D3-A9F8-0D56908D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4AAB5-E3E3-42A6-9FD4-A157AE82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E8B36-13FD-49B8-996A-08E586BE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F0545-F225-4C4E-96BA-38C145E1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Next 90 days should convert breadth into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DFE6B-E477-4EEB-B8E2-2DFD4ECA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 sequence below avoids gold-plating: first make it buildable, then provable, then operable.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6EBDF-4400-4B9D-8ACB-31FB640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3048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CEF8B-F098-428C-95FF-4D70365E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0–30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181A7-250B-41BF-B942-1BECA396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Stabilize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0E61C-69ED-4F4A-8B84-717594A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B58DD-5249-4766-80C6-8B2892B4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Fix Maven wrapper / backend test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766D6-E71B-4CB4-8C37-B7BE5250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B93FC-0130-48A9-AD0F-C14984B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CI: backend test + frontend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0F2E4-F3B6-4E5C-8A1B-BD5D5AB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7672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F0AC9-F10F-49A4-BA31-2E8BCF70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Trim unused imports and classify hook warnings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C4F06-3EAC-4A97-915B-D676CD5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C509E-3BE6-4F5F-A273-C9DE9870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Fail closed for production secrets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9D970-F93B-4EDA-9C98-220217A7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71700"/>
            <a:ext cx="3048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08896-CB0D-41A2-87A5-09D8A8AC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31–60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EAFEE-CFD7-4250-AD82-0B7FEFEC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Integrate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2381D-C201-40E4-80C0-3240702F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50578-764F-4285-BF43-C1C764CC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API contract tests for role journeys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F5A33-5576-4270-AA1D-198AD01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0047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15614-54F2-479C-ADD0-F724C93A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719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Seed/demo data documented and repeatable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CDB5B-30AB-434B-AFF7-C237CC8D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DE7B4-1FAD-43AD-8630-919B584F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481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Graph follow-up: isolate owners for thin modules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796D6-92D1-4582-933A-C87258CF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5297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759ADD-295B-4105-9D7D-40034009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244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Update design/task docs against reality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9EC7D-A066-464E-9700-9922D5FC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30480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966DED-140C-4952-9C01-B44A3C75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05050"/>
            <a:ext cx="2705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61–90 days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51C5F-B80B-4D7B-BA6E-0530A058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Productize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CA7084-05E9-4BC2-B5DD-2CD56527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2422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50637E-9C1A-4147-8E64-FE083A8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Observability and health dashboards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3A3D3-5570-4144-9B8C-654B3B99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0047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1E867E-B6F7-4463-8876-637029C3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719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Migration and backup/restore drill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A52C6D-3A7D-4975-B129-4E2D1F0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7672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B1E578-CAC1-4DE7-8B64-8FE5A79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4815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Security readiness checklist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ABF33C-D247-41CA-8F46-EF7AB4E7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52975"/>
            <a:ext cx="76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310725-6496-4A6E-812A-AF5B7B69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24400"/>
            <a:ext cx="2228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Release notes and demo narrative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97A90A-8A15-40E9-99E2-C1493418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graphify-out/GRAPH_REPORT.md, graphify-out/graph.json, README.md, sms/pom.xml, school-frontend/package.json, local validation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338FA7-45B9-4180-A11F-9292A838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302718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4830B3-78F6-43F7-9262-68FD22A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0811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292B7-FD0C-433B-9EB9-C474F774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CA7F4-489B-4231-992F-6D973F5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8F888-A228-4337-BCCD-E809CF6D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62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99FB2-48F8-44AB-A528-8D0BD2D2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4295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Source trail and reproducibility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52D2A-D16D-4DCB-913C-318F5DAB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Use these artifacts to trace any claim in the deck back to project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1B022-D24E-4E58-A5A7-101F221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F2D66-C554-4C53-8175-3F55D4BC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PRIMARY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E7C49-0F78-48C5-9EBA-2A799386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graphify-out/graph.html — interactive graph view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graphify-out/GRAPH_REPORT.md — graph report dated 2026-05-26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graphify-out/graph.json — node/link data backing hub analysis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docs/school_db.png — database diagram image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README.md — product summary and setup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sms/pom.xml — backend dependencies and Java/Spring versions</a:t>
            </a:r>
          </a:p>
          <a:p xmlns:a="http://schemas.openxmlformats.org/drawingml/2006/main"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• school-frontend/package.json — frontend dependencies and scripts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F839C-F7D9-446C-BAA8-7B5A5BAD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5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E025A-740E-414D-B016-A76DBEA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61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VALIDATION 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0A3B7-CC07-447D-BCA2-0101D67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050C2-B066-4009-AE59-BC1EDFAA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npm.cmd run build → completed; compiled with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EA037-CA35-467C-BCA7-8CB1040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AEC13-708C-48B5-8A7B-43266648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cmd.exe /c mvnw.cmd test → blocked before Maven startup; mvn.cmd not found on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EE3BE-291E-4F1A-BBCA-6895409A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Deck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4E6F0-77FA-4214-A05E-E3B9051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Create mode · engineering-platform primary profile · product-platform / strategy-leadership secondary constraints.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82F33-90FF-4167-BDD3-184B148E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B5B"/>
          </a:solidFill>
          <a:ln xmlns:a="http://schemas.openxmlformats.org/drawingml/2006/main" w="9525">
            <a:solidFill>
              <a:srgbClr val="2B3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B2E5E-C284-42B1-AED5-A9F1CA1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Current-state deck generated as an editable PPTX with artifact-tool presentation JSX.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8707B-B809-4F9F-A7F8-D519759E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151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End of current-state briefing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0C34D-4560-4263-8661-C3298E3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86525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5828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2026-05-28T18:01:45.8670000Z</dcterms:created>
  <dcterms:modified xsi:type="dcterms:W3CDTF">2026-05-28T18:01:45.8670000Z</dcterms:modified>
</coreProperties>
</file>